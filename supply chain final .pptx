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75" r:id="rId8"/>
    <p:sldId id="261" r:id="rId9"/>
    <p:sldId id="262" r:id="rId10"/>
    <p:sldId id="263" r:id="rId11"/>
    <p:sldId id="264" r:id="rId12"/>
    <p:sldId id="265" r:id="rId13"/>
    <p:sldId id="266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5E8C-CD3C-6DFC-6EA9-23B190AE7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74B3B-5AAF-A7DC-0209-BE48B6998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202A0-88C1-3F6A-3EAB-AAEA4DFB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7742-5344-C4C2-9CE9-14BAAF00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C9035-A440-EADF-E410-CD62C0B5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25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7A63-7B9D-8232-046F-57AC3B8D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8ACA-B3EB-A051-0223-C0156036D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2247A-5CA7-E640-3C98-BD590BF1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62FC9-C1D9-75CF-0F37-E0F4FFC4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2B8A-1893-0971-5C32-165D82C9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22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79CF-E492-3202-0F5A-3C04210A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1014A-C490-FFFF-C8D4-163ED6090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1189-DF85-7147-2F98-4BFF28C3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5729-F576-07CF-CA0E-60414EB7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2D7CD-A978-1DEE-93CC-9E9E854A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66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58B1-CC30-2A6E-5F40-19954D67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64B5E-F4B8-6309-78A1-DC0D7C812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DD613-8A77-BD35-8B55-EA83DF532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2B987-3BF1-4BF1-A626-E08ECA1F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D9F18-C349-C3D3-8425-0DAD3B9E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6E3B6-4CB4-9A7A-8233-D7366DEB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40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A94F-D132-9CAE-3EA7-42ED34837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EC8DE-E906-DE68-EADB-E7E38A13F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2B951-0364-40ED-F250-E8937D36E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C5C2BD-B3F6-AAA6-308B-8A8A43B49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C6741-60F0-BB58-4901-99DA9AA34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66415-7E78-CF98-ED36-B382DA5D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F9B0E-0AEA-D0A4-5ED1-01E074B6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5DA43-7DA9-E27A-5021-A51C5684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66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BDAF-97A0-B61B-14CF-8042C7AC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EC4C9-EC8F-E626-BE8E-C37BF9D6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FF785-0677-5D4B-654C-9EF5A58B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63B13-20FC-1F80-9E32-169BC6C3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05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3159C-CF46-C03B-5715-C194F2A4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4D36B-866C-51AD-4347-48F3ADFB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DB9C9-849E-3E91-DD23-79C47A9D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670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1916-1E4D-893F-9BCB-CFD8F618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CAC3A-1CE7-17E9-F9A7-926D6063C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CC4AE-B0E7-12E5-9E1E-56DDA8772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61C52-5FA3-683B-9099-887238A3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A7553-B791-A8C4-E5A0-C4BF309F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1A09-5A43-6BE0-3EC1-AB68B6FE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11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6761-CE87-5043-5F32-4C29F0F5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3C1A0-EA44-965D-26DA-8FE944CF1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4CE0B-AD5C-6DE7-9E8F-09460AF7C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828DA-DA3E-5D99-6565-04BA808B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538F3-8E1F-47AB-5399-C9719EDF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F7B0A-2D4C-EB54-509D-3E6A6A4B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28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EF1E-66D7-F47F-FAE3-58957FF9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AD409-E241-B76B-EAB9-967D74831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5F37-A4BC-92AB-5E3E-AFAE1D53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C1C0-A3DD-5957-5448-F0141DB3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6B18-5B0B-A309-A1A0-27F47664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5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B0578-E9B9-DA78-7166-60C90D3C1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29859-7E91-809B-8F74-117603EB2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09238-2BC8-19F5-1484-530F2BDF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CA8AA-285A-4167-B656-6F0AD8D5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2797-4FFF-2F93-5386-E2D181F3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475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17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  <a:gs pos="62234">
              <a:schemeClr val="accent1">
                <a:lumMod val="50000"/>
              </a:schemeClr>
            </a:gs>
            <a:gs pos="13000">
              <a:schemeClr val="tx1">
                <a:lumMod val="65000"/>
                <a:lumOff val="35000"/>
              </a:schemeClr>
            </a:gs>
            <a:gs pos="83000">
              <a:schemeClr val="accent1">
                <a:lumMod val="50000"/>
              </a:schemeClr>
            </a:gs>
            <a:gs pos="40000">
              <a:schemeClr val="accent1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96E82-5F4C-93ED-8E05-D6BD4659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2F93C-81D8-473A-AB02-F64DB3DC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1E90-E648-8F42-319D-615D80D02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9A637-4DF7-4398-886E-F3C35AFDAB61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47BD-9D2D-B0E1-87AA-276A0F3BC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80153-5ECC-BEDC-47EC-56FD1F0F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6FFBA-65DE-4E41-8D34-0EE4558C16A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58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977357-6D24-D7E3-04BB-07CDA32139BB}"/>
              </a:ext>
            </a:extLst>
          </p:cNvPr>
          <p:cNvSpPr txBox="1"/>
          <p:nvPr/>
        </p:nvSpPr>
        <p:spPr>
          <a:xfrm>
            <a:off x="285136" y="374925"/>
            <a:ext cx="11366090" cy="298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40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 </a:t>
            </a:r>
            <a:r>
              <a:rPr lang="en-US" sz="940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algn="ctr"/>
            <a:r>
              <a:rPr lang="en-US" sz="940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7AB288-B285-A1C4-C719-F96823266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8F6725-71FE-B264-EC25-624140F7EB42}"/>
              </a:ext>
            </a:extLst>
          </p:cNvPr>
          <p:cNvSpPr txBox="1"/>
          <p:nvPr/>
        </p:nvSpPr>
        <p:spPr>
          <a:xfrm>
            <a:off x="0" y="374925"/>
            <a:ext cx="12191999" cy="298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401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Supply Chain</a:t>
            </a:r>
          </a:p>
          <a:p>
            <a:pPr algn="ctr"/>
            <a:r>
              <a:rPr lang="en-US" sz="9401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E0051777-98D7-5897-3CF7-6475C723738E}"/>
              </a:ext>
            </a:extLst>
          </p:cNvPr>
          <p:cNvSpPr/>
          <p:nvPr/>
        </p:nvSpPr>
        <p:spPr>
          <a:xfrm>
            <a:off x="1495487" y="3952974"/>
            <a:ext cx="9200622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350" dirty="0">
                <a:solidFill>
                  <a:srgbClr val="FFFFFF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Transforming Supply Chain Data into Actionable Business Insights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566139-4C6A-6A4E-45D9-ED3D09C7F2B5}"/>
              </a:ext>
            </a:extLst>
          </p:cNvPr>
          <p:cNvSpPr txBox="1"/>
          <p:nvPr/>
        </p:nvSpPr>
        <p:spPr>
          <a:xfrm>
            <a:off x="5476568" y="5600850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BY KINJAL RATHOD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17D6E-91C8-5547-B1CC-92B0ACB3ECAA}"/>
              </a:ext>
            </a:extLst>
          </p:cNvPr>
          <p:cNvSpPr txBox="1"/>
          <p:nvPr/>
        </p:nvSpPr>
        <p:spPr>
          <a:xfrm>
            <a:off x="1002889" y="837890"/>
            <a:ext cx="60960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79996-4E79-9D74-04AC-C18CBA7C247F}"/>
              </a:ext>
            </a:extLst>
          </p:cNvPr>
          <p:cNvSpPr txBox="1"/>
          <p:nvPr/>
        </p:nvSpPr>
        <p:spPr>
          <a:xfrm>
            <a:off x="1002889" y="1616724"/>
            <a:ext cx="11090788" cy="248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A comprehensive supply chain study designed to uncover performance gaps, optimize logistics, and build a data-driven decision-making platform.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51995DF-5CA1-F1E9-F53D-E3C81656A080}"/>
              </a:ext>
            </a:extLst>
          </p:cNvPr>
          <p:cNvSpPr/>
          <p:nvPr/>
        </p:nvSpPr>
        <p:spPr>
          <a:xfrm>
            <a:off x="1086741" y="2032298"/>
            <a:ext cx="457426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Analyze Supply Chain Performance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Evaluate end-to-end operational metrics and KPIs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ECE7796-F44B-36A0-E470-408B131B52D4}"/>
              </a:ext>
            </a:extLst>
          </p:cNvPr>
          <p:cNvSpPr/>
          <p:nvPr/>
        </p:nvSpPr>
        <p:spPr>
          <a:xfrm>
            <a:off x="1208645" y="2156243"/>
            <a:ext cx="435262" cy="435273"/>
          </a:xfrm>
          <a:prstGeom prst="roundRect">
            <a:avLst>
              <a:gd name="adj" fmla="val 17504509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1E66633-5356-95E7-A927-6F628474C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991" y="2262810"/>
            <a:ext cx="195853" cy="195858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EF51C874-9F4B-4228-2515-87C24D788737}"/>
              </a:ext>
            </a:extLst>
          </p:cNvPr>
          <p:cNvSpPr/>
          <p:nvPr/>
        </p:nvSpPr>
        <p:spPr>
          <a:xfrm>
            <a:off x="1083099" y="3566354"/>
            <a:ext cx="457426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Assess Logistics Performance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Measure shipping costs, lead times, and carrier efficiency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DE564AB-0789-0AE4-3630-4E7E14CCDA80}"/>
              </a:ext>
            </a:extLst>
          </p:cNvPr>
          <p:cNvSpPr/>
          <p:nvPr/>
        </p:nvSpPr>
        <p:spPr>
          <a:xfrm>
            <a:off x="1235751" y="3666370"/>
            <a:ext cx="435262" cy="435273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1D5713E5-B0CE-0B39-4A1A-19D4ECE3B8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6249" y="3756871"/>
            <a:ext cx="254267" cy="254273"/>
          </a:xfrm>
          <a:prstGeom prst="rect">
            <a:avLst/>
          </a:prstGeom>
        </p:spPr>
      </p:pic>
      <p:sp>
        <p:nvSpPr>
          <p:cNvPr id="27" name="Shape 12">
            <a:extLst>
              <a:ext uri="{FF2B5EF4-FFF2-40B4-BE49-F238E27FC236}">
                <a16:creationId xmlns:a16="http://schemas.microsoft.com/office/drawing/2014/main" id="{6222F207-8D7C-91AE-BD84-C0607995190C}"/>
              </a:ext>
            </a:extLst>
          </p:cNvPr>
          <p:cNvSpPr/>
          <p:nvPr/>
        </p:nvSpPr>
        <p:spPr>
          <a:xfrm>
            <a:off x="1105744" y="5076800"/>
            <a:ext cx="452897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Develop Power BI Dashboard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Build an interactive executive analytics platform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8065B78-4B80-166C-3B0C-044B4C5E061B}"/>
              </a:ext>
            </a:extLst>
          </p:cNvPr>
          <p:cNvSpPr/>
          <p:nvPr/>
        </p:nvSpPr>
        <p:spPr>
          <a:xfrm>
            <a:off x="1208645" y="5130549"/>
            <a:ext cx="435262" cy="435273"/>
          </a:xfrm>
          <a:prstGeom prst="roundRect">
            <a:avLst>
              <a:gd name="adj" fmla="val 17504509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Graphic 30" descr="Bullseye with solid fill">
            <a:extLst>
              <a:ext uri="{FF2B5EF4-FFF2-40B4-BE49-F238E27FC236}">
                <a16:creationId xmlns:a16="http://schemas.microsoft.com/office/drawing/2014/main" id="{F41D65FF-BAF8-3EC4-0BC5-E60E57BA3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7317" y="5191585"/>
            <a:ext cx="313199" cy="313199"/>
          </a:xfrm>
          <a:prstGeom prst="rect">
            <a:avLst/>
          </a:prstGeom>
        </p:spPr>
      </p:pic>
      <p:sp>
        <p:nvSpPr>
          <p:cNvPr id="33" name="Shape 4">
            <a:extLst>
              <a:ext uri="{FF2B5EF4-FFF2-40B4-BE49-F238E27FC236}">
                <a16:creationId xmlns:a16="http://schemas.microsoft.com/office/drawing/2014/main" id="{D6CE1193-B0CD-ADEB-7A9B-B05D550BBA03}"/>
              </a:ext>
            </a:extLst>
          </p:cNvPr>
          <p:cNvSpPr/>
          <p:nvPr/>
        </p:nvSpPr>
        <p:spPr>
          <a:xfrm>
            <a:off x="5928587" y="2032298"/>
            <a:ext cx="457426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Evaluate Inventory Efficiency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Assess stock levels, turnover, and storage optimization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766C8717-BA12-BE79-E5B5-0F76D185C2CC}"/>
              </a:ext>
            </a:extLst>
          </p:cNvPr>
          <p:cNvSpPr/>
          <p:nvPr/>
        </p:nvSpPr>
        <p:spPr>
          <a:xfrm>
            <a:off x="6125068" y="2143102"/>
            <a:ext cx="453819" cy="435273"/>
          </a:xfrm>
          <a:prstGeom prst="roundRect">
            <a:avLst>
              <a:gd name="adj" fmla="val 17504509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4EE44458-F3B0-C330-42BD-9837B24DC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0530" y="2229287"/>
            <a:ext cx="262894" cy="262901"/>
          </a:xfrm>
          <a:prstGeom prst="rect">
            <a:avLst/>
          </a:prstGeom>
        </p:spPr>
      </p:pic>
      <p:sp>
        <p:nvSpPr>
          <p:cNvPr id="45" name="Shape 4">
            <a:extLst>
              <a:ext uri="{FF2B5EF4-FFF2-40B4-BE49-F238E27FC236}">
                <a16:creationId xmlns:a16="http://schemas.microsoft.com/office/drawing/2014/main" id="{2CF34B91-EF2C-C850-0420-BB7BF2790DF1}"/>
              </a:ext>
            </a:extLst>
          </p:cNvPr>
          <p:cNvSpPr/>
          <p:nvPr/>
        </p:nvSpPr>
        <p:spPr>
          <a:xfrm>
            <a:off x="5928587" y="3539804"/>
            <a:ext cx="457426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Analyze Revenue Patterns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Identify top revenue drivers by product and channel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09A84E4C-65A5-E607-EED9-16E66023396F}"/>
              </a:ext>
            </a:extLst>
          </p:cNvPr>
          <p:cNvSpPr/>
          <p:nvPr/>
        </p:nvSpPr>
        <p:spPr>
          <a:xfrm>
            <a:off x="6125067" y="3666369"/>
            <a:ext cx="453819" cy="435273"/>
          </a:xfrm>
          <a:prstGeom prst="roundRect">
            <a:avLst>
              <a:gd name="adj" fmla="val 17504509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2C736FE5-3F01-8920-4A2D-6E1B86284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717" y="3731741"/>
            <a:ext cx="283708" cy="283715"/>
          </a:xfrm>
          <a:prstGeom prst="rect">
            <a:avLst/>
          </a:prstGeom>
        </p:spPr>
      </p:pic>
      <p:sp>
        <p:nvSpPr>
          <p:cNvPr id="53" name="Shape 4">
            <a:extLst>
              <a:ext uri="{FF2B5EF4-FFF2-40B4-BE49-F238E27FC236}">
                <a16:creationId xmlns:a16="http://schemas.microsoft.com/office/drawing/2014/main" id="{199CFE0F-4031-51E5-5089-C8E3E73F4651}"/>
              </a:ext>
            </a:extLst>
          </p:cNvPr>
          <p:cNvSpPr/>
          <p:nvPr/>
        </p:nvSpPr>
        <p:spPr>
          <a:xfrm>
            <a:off x="5928587" y="5076800"/>
            <a:ext cx="4574267" cy="1396702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5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Generate Recommendations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Deliver actionable business improvement strategies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F7E2CB2C-59CB-FC69-DE0E-469E364A6778}"/>
              </a:ext>
            </a:extLst>
          </p:cNvPr>
          <p:cNvSpPr/>
          <p:nvPr/>
        </p:nvSpPr>
        <p:spPr>
          <a:xfrm>
            <a:off x="6096000" y="5152409"/>
            <a:ext cx="453819" cy="435273"/>
          </a:xfrm>
          <a:prstGeom prst="roundRect">
            <a:avLst>
              <a:gd name="adj" fmla="val 17504509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Image 6" descr="preencoded.png">
            <a:extLst>
              <a:ext uri="{FF2B5EF4-FFF2-40B4-BE49-F238E27FC236}">
                <a16:creationId xmlns:a16="http://schemas.microsoft.com/office/drawing/2014/main" id="{F70851FA-F10B-9CD4-5334-2B9CF8B94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0168" y="5180275"/>
            <a:ext cx="345481" cy="33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5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 animBg="1"/>
      <p:bldP spid="15" grpId="0" animBg="1"/>
      <p:bldP spid="27" grpId="0" animBg="1"/>
      <p:bldP spid="33" grpId="0" animBg="1"/>
      <p:bldP spid="45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1C91A-79BB-5401-5325-0AACD5328984}"/>
              </a:ext>
            </a:extLst>
          </p:cNvPr>
          <p:cNvSpPr txBox="1"/>
          <p:nvPr/>
        </p:nvSpPr>
        <p:spPr>
          <a:xfrm>
            <a:off x="373626" y="435576"/>
            <a:ext cx="6096000" cy="60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51" dirty="0">
                <a:solidFill>
                  <a:srgbClr val="FFFFFF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Dataset Overview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91D7941-A45B-9B09-6DDF-DCF0E091D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216" y="-1"/>
            <a:ext cx="4800480" cy="6858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86305-70DC-16FE-51A3-DAA8EAEF41DA}"/>
              </a:ext>
            </a:extLst>
          </p:cNvPr>
          <p:cNvSpPr txBox="1"/>
          <p:nvPr/>
        </p:nvSpPr>
        <p:spPr>
          <a:xfrm>
            <a:off x="442452" y="1271927"/>
            <a:ext cx="6096000" cy="50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3000"/>
              </a:lnSpc>
            </a:pPr>
            <a:r>
              <a:rPr lang="en-US" sz="32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1904B-222F-E8B6-72C0-731A41D2FDBA}"/>
              </a:ext>
            </a:extLst>
          </p:cNvPr>
          <p:cNvSpPr txBox="1"/>
          <p:nvPr/>
        </p:nvSpPr>
        <p:spPr>
          <a:xfrm>
            <a:off x="442452" y="1665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Total Records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45DE1-AC4F-99A3-BE3E-DEBFD855CA5A}"/>
              </a:ext>
            </a:extLst>
          </p:cNvPr>
          <p:cNvSpPr txBox="1"/>
          <p:nvPr/>
        </p:nvSpPr>
        <p:spPr>
          <a:xfrm>
            <a:off x="655643" y="1983281"/>
            <a:ext cx="609600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6000"/>
              </a:lnSpc>
            </a:pPr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Observations in dataset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C3C5B-4906-4398-9C36-373547418DB4}"/>
              </a:ext>
            </a:extLst>
          </p:cNvPr>
          <p:cNvSpPr txBox="1"/>
          <p:nvPr/>
        </p:nvSpPr>
        <p:spPr>
          <a:xfrm>
            <a:off x="442452" y="2427785"/>
            <a:ext cx="6096000" cy="50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3000"/>
              </a:lnSpc>
            </a:pPr>
            <a:r>
              <a:rPr lang="en-US" sz="32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F6749-E457-BE38-7E58-940941B961DB}"/>
              </a:ext>
            </a:extLst>
          </p:cNvPr>
          <p:cNvSpPr txBox="1"/>
          <p:nvPr/>
        </p:nvSpPr>
        <p:spPr>
          <a:xfrm>
            <a:off x="655643" y="2793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Product Categories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08A4A8-63B6-CEC1-2E3A-C9354B04F2BC}"/>
              </a:ext>
            </a:extLst>
          </p:cNvPr>
          <p:cNvSpPr txBox="1"/>
          <p:nvPr/>
        </p:nvSpPr>
        <p:spPr>
          <a:xfrm>
            <a:off x="1037780" y="3141740"/>
            <a:ext cx="609600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6000"/>
              </a:lnSpc>
            </a:pPr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Skincare · Haircare · Cosmetics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2AF13-7D30-3D7B-996F-D4151880673D}"/>
              </a:ext>
            </a:extLst>
          </p:cNvPr>
          <p:cNvSpPr txBox="1"/>
          <p:nvPr/>
        </p:nvSpPr>
        <p:spPr>
          <a:xfrm>
            <a:off x="442452" y="3590637"/>
            <a:ext cx="6096000" cy="50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3000"/>
              </a:lnSpc>
            </a:pPr>
            <a:r>
              <a:rPr lang="en-US" sz="32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87473C-E3CB-FA28-405D-5C5A8A311620}"/>
              </a:ext>
            </a:extLst>
          </p:cNvPr>
          <p:cNvSpPr txBox="1"/>
          <p:nvPr/>
        </p:nvSpPr>
        <p:spPr>
          <a:xfrm>
            <a:off x="655643" y="3930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 Medium" pitchFamily="34" charset="-122"/>
                <a:cs typeface="Times New Roman" panose="02020603050405020304" pitchFamily="18" charset="0"/>
              </a:rPr>
              <a:t>Transport Modes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87533-1FAC-18CE-C63B-4279D8D333D0}"/>
              </a:ext>
            </a:extLst>
          </p:cNvPr>
          <p:cNvSpPr txBox="1"/>
          <p:nvPr/>
        </p:nvSpPr>
        <p:spPr>
          <a:xfrm>
            <a:off x="655643" y="4265702"/>
            <a:ext cx="609600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6000"/>
              </a:lnSpc>
            </a:pPr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Air · Rail · Road · Sea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E612B7-40F9-2E44-1E2A-37378682DA81}"/>
              </a:ext>
            </a:extLst>
          </p:cNvPr>
          <p:cNvSpPr txBox="1"/>
          <p:nvPr/>
        </p:nvSpPr>
        <p:spPr>
          <a:xfrm>
            <a:off x="226618" y="4772131"/>
            <a:ext cx="750153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6000"/>
              </a:lnSpc>
            </a:pPr>
            <a:r>
              <a:rPr lang="en-US" sz="1800" b="1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Key Fields Analyzed:-</a:t>
            </a:r>
          </a:p>
          <a:p>
            <a:pPr>
              <a:lnSpc>
                <a:spcPct val="86000"/>
              </a:lnSpc>
            </a:pPr>
            <a:endParaRPr lang="en-US" sz="1800" b="1" dirty="0">
              <a:solidFill>
                <a:srgbClr val="B5B5B5"/>
              </a:solidFill>
              <a:latin typeface="Times New Roman" panose="02020603050405020304" pitchFamily="18" charset="0"/>
              <a:ea typeface="Inter Tight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6000"/>
              </a:lnSpc>
            </a:pPr>
            <a:r>
              <a:rPr lang="en-US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 ·</a:t>
            </a:r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 Product Type · Revenue Generated · Stock Levels · Products  Sold </a:t>
            </a:r>
            <a:endParaRPr lang="en-US" dirty="0">
              <a:solidFill>
                <a:srgbClr val="B5B5B5"/>
              </a:solidFill>
              <a:latin typeface="Times New Roman" panose="02020603050405020304" pitchFamily="18" charset="0"/>
              <a:ea typeface="Inter Tight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6000"/>
              </a:lnSpc>
            </a:pPr>
            <a:r>
              <a:rPr lang="en-US" sz="1800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 · Shipping Costs · Transportation Modes · Supplier Name · Customer  Demographics</a:t>
            </a:r>
            <a:r>
              <a:rPr lang="en-US" dirty="0">
                <a:solidFill>
                  <a:srgbClr val="B5B5B5"/>
                </a:solidFill>
                <a:latin typeface="Times New Roman" panose="02020603050405020304" pitchFamily="18" charset="0"/>
                <a:ea typeface="Inter Tight" pitchFamily="34" charset="-122"/>
                <a:cs typeface="Times New Roman" panose="02020603050405020304" pitchFamily="18" charset="0"/>
              </a:rPr>
              <a:t>  ·Location · Route  · Availability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1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91D77C-8539-D75A-CEF3-34C416EEA3EE}"/>
              </a:ext>
            </a:extLst>
          </p:cNvPr>
          <p:cNvSpPr txBox="1"/>
          <p:nvPr/>
        </p:nvSpPr>
        <p:spPr>
          <a:xfrm>
            <a:off x="2188029" y="2133600"/>
            <a:ext cx="77506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6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D38A3-56DD-8311-3722-537A402C0CCF}"/>
              </a:ext>
            </a:extLst>
          </p:cNvPr>
          <p:cNvSpPr txBox="1"/>
          <p:nvPr/>
        </p:nvSpPr>
        <p:spPr>
          <a:xfrm>
            <a:off x="825909" y="218457"/>
            <a:ext cx="10805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Pivot Table Analysis (Revenue Generation)</a:t>
            </a:r>
            <a:endParaRPr lang="en-IN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1AE8EA0-1B9D-9B20-4E48-067773D62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0" y="1149353"/>
            <a:ext cx="5463453" cy="4891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38165D-488B-ED4A-8B29-B417583D7A56}"/>
              </a:ext>
            </a:extLst>
          </p:cNvPr>
          <p:cNvSpPr txBox="1"/>
          <p:nvPr/>
        </p:nvSpPr>
        <p:spPr>
          <a:xfrm>
            <a:off x="5775158" y="1149353"/>
            <a:ext cx="60960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revenue analysis reveals that Skincare is the leading product category, generating ₹241,629, significantly outperforming Haircare (₹174,454) and Cosmetics (₹161,519).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closer examination shows that female customers contributed the highest revenue within the Skincare segment (₹79,241), indicating that this customer group is the primary driver of skincare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logistics perspective, Rail transportation generated the highest overall revenue (₹164,989), demonstrating its importance in efficiently distributing products across markets.</a:t>
            </a:r>
          </a:p>
        </p:txBody>
      </p:sp>
    </p:spTree>
    <p:extLst>
      <p:ext uri="{BB962C8B-B14F-4D97-AF65-F5344CB8AC3E}">
        <p14:creationId xmlns:p14="http://schemas.microsoft.com/office/powerpoint/2010/main" val="418760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610C0-DBA4-EA33-5CF5-D097DD3E37F0}"/>
              </a:ext>
            </a:extLst>
          </p:cNvPr>
          <p:cNvSpPr txBox="1"/>
          <p:nvPr/>
        </p:nvSpPr>
        <p:spPr>
          <a:xfrm>
            <a:off x="3561348" y="1843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Shipping Cost  Analysis</a:t>
            </a:r>
            <a:endParaRPr lang="en-IN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9CEE972-6491-51CD-3AA1-8B778885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9" y="1019176"/>
            <a:ext cx="5456518" cy="5194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F54840-8B91-6185-ABE9-5FD24E3B3CF8}"/>
              </a:ext>
            </a:extLst>
          </p:cNvPr>
          <p:cNvSpPr txBox="1"/>
          <p:nvPr/>
        </p:nvSpPr>
        <p:spPr>
          <a:xfrm>
            <a:off x="5919018" y="1019175"/>
            <a:ext cx="627298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shipping cost analysis shows that Kolkata (146) and Mumbai (136) incurred the highest logistics costs, while Delhi recorded the lowest (76).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1 generated the highest shipping cost (148), whereas Supplier 3 was the most cost-efficient with a cost of 73.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Inspection-wise, Pending shipments contributed the highest cost (242), followed by Fail (188) and Pass (125). The high shipping expenses associated with pending inspections indicate possible delays and operational inefficiencies.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suggest that improving inspection processes and optimizing supplier performance can significantly reduce logistics costs and improve supply chain efficiency.</a:t>
            </a:r>
          </a:p>
        </p:txBody>
      </p:sp>
    </p:spTree>
    <p:extLst>
      <p:ext uri="{BB962C8B-B14F-4D97-AF65-F5344CB8AC3E}">
        <p14:creationId xmlns:p14="http://schemas.microsoft.com/office/powerpoint/2010/main" val="240993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B8566-33DD-B569-FD22-EE79D72720F0}"/>
              </a:ext>
            </a:extLst>
          </p:cNvPr>
          <p:cNvSpPr txBox="1"/>
          <p:nvPr/>
        </p:nvSpPr>
        <p:spPr>
          <a:xfrm>
            <a:off x="2601686" y="2105561"/>
            <a:ext cx="66838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4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659DE6-C42C-767B-AF3B-3072D5F62118}"/>
              </a:ext>
            </a:extLst>
          </p:cNvPr>
          <p:cNvSpPr txBox="1"/>
          <p:nvPr/>
        </p:nvSpPr>
        <p:spPr>
          <a:xfrm>
            <a:off x="471948" y="226142"/>
            <a:ext cx="11346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, MINIMUM , MAXIMUM PRICE</a:t>
            </a:r>
            <a:endParaRPr lang="en-IN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F9F4C-902B-AFFA-90C6-F38A2229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9" y="891220"/>
            <a:ext cx="11678021" cy="4293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B13BE0-FC52-7146-A5C6-B91FC4678FD0}"/>
              </a:ext>
            </a:extLst>
          </p:cNvPr>
          <p:cNvSpPr txBox="1"/>
          <p:nvPr/>
        </p:nvSpPr>
        <p:spPr>
          <a:xfrm>
            <a:off x="256989" y="5428270"/>
            <a:ext cx="11678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SELECT AVG(Price) AS Avg_Price, MIN(Price) AS Min_Price, MAX(Price) AS Max_Price FROM supply_chain_data;</a:t>
            </a: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60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673EF-BFB6-17CD-61D8-6CA70D3E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9" y="857998"/>
            <a:ext cx="11776667" cy="4079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3DAC4F-7828-0C27-7235-5032D36B4A59}"/>
              </a:ext>
            </a:extLst>
          </p:cNvPr>
          <p:cNvSpPr txBox="1"/>
          <p:nvPr/>
        </p:nvSpPr>
        <p:spPr>
          <a:xfrm>
            <a:off x="592853" y="221064"/>
            <a:ext cx="1129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CATEGORY EARNS THE MOST MONEY?</a:t>
            </a:r>
            <a:endParaRPr lang="en-IN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40CF1-E083-B1C2-699B-865AD457E4A6}"/>
              </a:ext>
            </a:extLst>
          </p:cNvPr>
          <p:cNvSpPr txBox="1"/>
          <p:nvPr/>
        </p:nvSpPr>
        <p:spPr>
          <a:xfrm>
            <a:off x="133979" y="5250426"/>
            <a:ext cx="11776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SELECT`Product type`, SUM(`Revenue generated`) AS Total_Revenue FROM supply_chain_data GROUP BY `Product type`ORDER BY Total_Revenue DESC;</a:t>
            </a: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01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FCFBD-0EFE-6C87-FED5-FAA3B7D5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27" y="983493"/>
            <a:ext cx="11917345" cy="4342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68FECF-5292-0638-630C-2F119616BADA}"/>
              </a:ext>
            </a:extLst>
          </p:cNvPr>
          <p:cNvSpPr txBox="1"/>
          <p:nvPr/>
        </p:nvSpPr>
        <p:spPr>
          <a:xfrm>
            <a:off x="321547" y="281354"/>
            <a:ext cx="11394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CATEGORY CUSTOMERS BUY MOST?</a:t>
            </a:r>
            <a:endParaRPr lang="en-IN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6FB4B-E724-2FCF-89C2-DCC85389A249}"/>
              </a:ext>
            </a:extLst>
          </p:cNvPr>
          <p:cNvSpPr txBox="1"/>
          <p:nvPr/>
        </p:nvSpPr>
        <p:spPr>
          <a:xfrm>
            <a:off x="137327" y="5594555"/>
            <a:ext cx="11848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SELECT`Product type`, SUM(`Number of products sold`) AS Total_Sales FROM supply_chain_data GROUP BY `Product type` ORDER BY Total_Sales DESC;</a:t>
            </a: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1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A9F6E-5EB6-6C80-A373-D9F56885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3" y="981122"/>
            <a:ext cx="11927393" cy="43684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8735BC-08C4-6EF9-B870-94209E33FF1B}"/>
              </a:ext>
            </a:extLst>
          </p:cNvPr>
          <p:cNvSpPr txBox="1"/>
          <p:nvPr/>
        </p:nvSpPr>
        <p:spPr>
          <a:xfrm>
            <a:off x="542611" y="261257"/>
            <a:ext cx="11404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CARRIER IS CHEAPEST?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FA81A-014B-D6BA-D6C2-5B1A321F4834}"/>
              </a:ext>
            </a:extLst>
          </p:cNvPr>
          <p:cNvSpPr txBox="1"/>
          <p:nvPr/>
        </p:nvSpPr>
        <p:spPr>
          <a:xfrm>
            <a:off x="132303" y="5555226"/>
            <a:ext cx="1192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SELECT` Shipping carriers`, AVG(`Shipping costs`) AS Avg_Shipping_Cost FROM supply_chain_data GROUP BY `Shipping carriers`;</a:t>
            </a:r>
            <a:endParaRPr lang="en-IN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3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453A7-7B37-8449-D8E4-408686A4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670704"/>
            <a:ext cx="11877368" cy="4766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2A4BF3-5A00-C79A-6399-C64F3CD48B82}"/>
              </a:ext>
            </a:extLst>
          </p:cNvPr>
          <p:cNvSpPr txBox="1"/>
          <p:nvPr/>
        </p:nvSpPr>
        <p:spPr>
          <a:xfrm>
            <a:off x="550606" y="147484"/>
            <a:ext cx="10638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SUPPLIER BASED ON QUALITY.</a:t>
            </a:r>
            <a:endParaRPr lang="en-IN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EAA5A-7D53-673E-3E37-1068A67A20E2}"/>
              </a:ext>
            </a:extLst>
          </p:cNvPr>
          <p:cNvSpPr txBox="1"/>
          <p:nvPr/>
        </p:nvSpPr>
        <p:spPr>
          <a:xfrm>
            <a:off x="157316" y="5760404"/>
            <a:ext cx="1157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*FROM Supplier_Performance ORDER BY Defect_Rate_Percent;</a:t>
            </a:r>
            <a:endParaRPr lang="en-IN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2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4D86A-CEA8-6717-04D5-49EE16EE7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8" y="959817"/>
            <a:ext cx="11686233" cy="4241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BA6CBF-F90C-949A-FAF9-99A9729C58AD}"/>
              </a:ext>
            </a:extLst>
          </p:cNvPr>
          <p:cNvSpPr txBox="1"/>
          <p:nvPr/>
        </p:nvSpPr>
        <p:spPr>
          <a:xfrm>
            <a:off x="291402" y="251209"/>
            <a:ext cx="11153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PERFORMANCE ANALYSIS BASED ON LEAD TIME MATCHING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C4477-517C-A9DF-77E1-3BF69F4303E7}"/>
              </a:ext>
            </a:extLst>
          </p:cNvPr>
          <p:cNvSpPr txBox="1"/>
          <p:nvPr/>
        </p:nvSpPr>
        <p:spPr>
          <a:xfrm>
            <a:off x="190918" y="5448208"/>
            <a:ext cx="10962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SELECTs.SKU,s.`Product type`,s.`Supplier name`,s.`Lead times`,p.Supplier_Name,p.Cost_per_Unit_INR, p.Defect_Rate_Percent  FROM supply_chain_data sINNER JOIN Supplier_Performance p ON s.`Lead times` = p.Lead_Time_Days;</a:t>
            </a:r>
          </a:p>
        </p:txBody>
      </p:sp>
    </p:spTree>
    <p:extLst>
      <p:ext uri="{BB962C8B-B14F-4D97-AF65-F5344CB8AC3E}">
        <p14:creationId xmlns:p14="http://schemas.microsoft.com/office/powerpoint/2010/main" val="393734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7C35D0-4720-1B7F-C5FD-916459106A6C}"/>
              </a:ext>
            </a:extLst>
          </p:cNvPr>
          <p:cNvSpPr txBox="1"/>
          <p:nvPr/>
        </p:nvSpPr>
        <p:spPr>
          <a:xfrm>
            <a:off x="3156857" y="227852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8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101A13-0834-2D8E-3D81-299D14B3A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0" y="1356737"/>
            <a:ext cx="4757058" cy="3803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C24EB4-EEED-9468-03CC-BC0AD79703DC}"/>
              </a:ext>
            </a:extLst>
          </p:cNvPr>
          <p:cNvSpPr txBox="1"/>
          <p:nvPr/>
        </p:nvSpPr>
        <p:spPr>
          <a:xfrm>
            <a:off x="5497286" y="932194"/>
            <a:ext cx="633070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contribute the highest revenue of approximately 0.24M, making them the most profitable product category.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Haircare and cosmetics follow with revenues of 0.17M and 0.16M respectively, indicating that skincare products are the primary drivers of business growth.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Cosmetics may require additional promotional activities to increase sales.</a:t>
            </a:r>
          </a:p>
        </p:txBody>
      </p:sp>
    </p:spTree>
    <p:extLst>
      <p:ext uri="{BB962C8B-B14F-4D97-AF65-F5344CB8AC3E}">
        <p14:creationId xmlns:p14="http://schemas.microsoft.com/office/powerpoint/2010/main" val="968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CA624-C23A-86BF-2234-52DE545F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89" y="1351378"/>
            <a:ext cx="4616412" cy="3438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E22222-E4AF-8E76-393A-D60B322EFB40}"/>
              </a:ext>
            </a:extLst>
          </p:cNvPr>
          <p:cNvSpPr txBox="1"/>
          <p:nvPr/>
        </p:nvSpPr>
        <p:spPr>
          <a:xfrm>
            <a:off x="5693228" y="1251857"/>
            <a:ext cx="595448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 transportation contributes the highest revenue of 164.99K, followed by Road and Air transport.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 transport generates the lowest revenue, suggesting lower utilization compared to other transportation methods.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focus can be placed on optimizing sea transport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2463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56021-38E6-85E0-6D77-516C90C7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3" y="1516214"/>
            <a:ext cx="4593798" cy="3371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54D22C-FE62-DED6-4A47-874FF7EDBBBF}"/>
              </a:ext>
            </a:extLst>
          </p:cNvPr>
          <p:cNvSpPr txBox="1"/>
          <p:nvPr/>
        </p:nvSpPr>
        <p:spPr>
          <a:xfrm>
            <a:off x="5519057" y="1375605"/>
            <a:ext cx="60960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incur the highest manufacturing cost of 2.0K, followed by Haircare and Cosmetics.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higher production costs, skincare remains the most profitable category due to its strong revenue contribution.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should continue monitoring production efficiency.</a:t>
            </a:r>
          </a:p>
        </p:txBody>
      </p:sp>
    </p:spTree>
    <p:extLst>
      <p:ext uri="{BB962C8B-B14F-4D97-AF65-F5344CB8AC3E}">
        <p14:creationId xmlns:p14="http://schemas.microsoft.com/office/powerpoint/2010/main" val="75437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9B2C1-78DF-9A38-473F-BF74B24C7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1" y="1280374"/>
            <a:ext cx="4198905" cy="4057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B3488-74F9-39BD-7997-E930EE40488E}"/>
              </a:ext>
            </a:extLst>
          </p:cNvPr>
          <p:cNvSpPr txBox="1"/>
          <p:nvPr/>
        </p:nvSpPr>
        <p:spPr>
          <a:xfrm>
            <a:off x="5192485" y="1400117"/>
            <a:ext cx="609600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 holds the highest stock levels, indicating its importance as a major inventory </a:t>
            </a: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 has the lowest stock levels, which may increase the risk of stock shortages if demand rises.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rebalancing may improve service levels.</a:t>
            </a:r>
          </a:p>
        </p:txBody>
      </p:sp>
    </p:spTree>
    <p:extLst>
      <p:ext uri="{BB962C8B-B14F-4D97-AF65-F5344CB8AC3E}">
        <p14:creationId xmlns:p14="http://schemas.microsoft.com/office/powerpoint/2010/main" val="117372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87BD7-304F-0B13-5075-297E3250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77" y="1330119"/>
            <a:ext cx="3821537" cy="4117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151B3E-BFC8-52D6-25E2-8FFB02D6D1E0}"/>
              </a:ext>
            </a:extLst>
          </p:cNvPr>
          <p:cNvSpPr txBox="1"/>
          <p:nvPr/>
        </p:nvSpPr>
        <p:spPr>
          <a:xfrm>
            <a:off x="5018314" y="1330119"/>
            <a:ext cx="60960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Kolkata generates the highest share of orders, accounting for nearly 25% of total demand. 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 and Mumbai also contribute significantly, while Bangalore and Delhi represent comparatively smaller portions of total orders.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efforts can be increased in lower-demand regions.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DC41B-3809-90D9-6DBC-358E1EFA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83" y="1023258"/>
            <a:ext cx="4062659" cy="4386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38CA47-4BC8-824E-E945-9C11596E0A50}"/>
              </a:ext>
            </a:extLst>
          </p:cNvPr>
          <p:cNvSpPr txBox="1"/>
          <p:nvPr/>
        </p:nvSpPr>
        <p:spPr>
          <a:xfrm>
            <a:off x="5366657" y="843527"/>
            <a:ext cx="60960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shipping carrier performance analysis shows differences in cost and delivery time among carriers.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Carrier B is the most cost-efficient, while Carrier A provides a balanced logistics solution.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C incurs the highest shipping cost and may require further evaluation.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 C's performance should be reviewed due to higher costs.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69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6BC1AB-4F22-8558-14DC-45F753F1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1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8BC17-B83C-A51C-E23A-235DFAE1350C}"/>
              </a:ext>
            </a:extLst>
          </p:cNvPr>
          <p:cNvSpPr txBox="1"/>
          <p:nvPr/>
        </p:nvSpPr>
        <p:spPr>
          <a:xfrm>
            <a:off x="141516" y="1284514"/>
            <a:ext cx="10961913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Pivot Table analysis identified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Skincare as the highest revenue-generating product category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significantly to overall business revenue.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demographic analysis showed that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contributed the highest revenue within the skincare segment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mode analysis revealed that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 transportation generated the highest overall revenue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 key logistics channel.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indicated that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 inspections contributed to higher shipping costs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operational inefficiencies.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were used to extract, summarize, and validate insights related to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generation, supplier performance, inventory levels, and logistics operations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AD68A-2C58-2B2B-3E20-71CE023700B0}"/>
              </a:ext>
            </a:extLst>
          </p:cNvPr>
          <p:cNvSpPr txBox="1"/>
          <p:nvPr/>
        </p:nvSpPr>
        <p:spPr>
          <a:xfrm>
            <a:off x="566057" y="511629"/>
            <a:ext cx="1053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1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DBEBE-42F6-511B-05FE-5B6D708D7F32}"/>
              </a:ext>
            </a:extLst>
          </p:cNvPr>
          <p:cNvSpPr txBox="1"/>
          <p:nvPr/>
        </p:nvSpPr>
        <p:spPr>
          <a:xfrm>
            <a:off x="2792186" y="2177143"/>
            <a:ext cx="66076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</a:p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94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1023</Words>
  <Application>Microsoft Office PowerPoint</Application>
  <PresentationFormat>Widescreen</PresentationFormat>
  <Paragraphs>111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kinjal rathod</cp:lastModifiedBy>
  <cp:revision>33</cp:revision>
  <dcterms:created xsi:type="dcterms:W3CDTF">2026-06-17T10:46:11Z</dcterms:created>
  <dcterms:modified xsi:type="dcterms:W3CDTF">2026-10-07T14:21:51Z</dcterms:modified>
</cp:coreProperties>
</file>